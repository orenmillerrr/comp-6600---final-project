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2"/>
    <p:sldId id="257" r:id="rId3"/>
    <p:sldId id="265" r:id="rId4"/>
    <p:sldId id="259" r:id="rId5"/>
    <p:sldId id="260" r:id="rId6"/>
    <p:sldId id="261" r:id="rId7"/>
    <p:sldId id="272" r:id="rId8"/>
    <p:sldId id="271" r:id="rId9"/>
    <p:sldId id="270" r:id="rId10"/>
    <p:sldId id="266" r:id="rId11"/>
    <p:sldId id="264" r:id="rId12"/>
    <p:sldId id="273" r:id="rId13"/>
  </p:sldIdLst>
  <p:sldSz cx="12192000" cy="6858000"/>
  <p:notesSz cx="9144000" cy="6858000"/>
  <p:defaultTextStyle>
    <a:lvl1pPr defTabSz="457200">
      <a:buClr>
        <a:srgbClr val="000000"/>
      </a:buClr>
      <a:buFont typeface="Calibri"/>
      <a:defRPr>
        <a:uFill>
          <a:solidFill/>
        </a:uFill>
        <a:latin typeface="+mn-lt"/>
        <a:ea typeface="+mn-ea"/>
        <a:cs typeface="+mn-cs"/>
        <a:sym typeface="Calibri"/>
      </a:defRPr>
    </a:lvl1pPr>
    <a:lvl2pPr indent="342900" defTabSz="457200">
      <a:buClr>
        <a:srgbClr val="000000"/>
      </a:buClr>
      <a:buFont typeface="Calibri"/>
      <a:defRPr>
        <a:uFill>
          <a:solidFill/>
        </a:uFill>
        <a:latin typeface="+mn-lt"/>
        <a:ea typeface="+mn-ea"/>
        <a:cs typeface="+mn-cs"/>
        <a:sym typeface="Calibri"/>
      </a:defRPr>
    </a:lvl2pPr>
    <a:lvl3pPr indent="685800" defTabSz="457200">
      <a:buClr>
        <a:srgbClr val="000000"/>
      </a:buClr>
      <a:buFont typeface="Calibri"/>
      <a:defRPr>
        <a:uFill>
          <a:solidFill/>
        </a:uFill>
        <a:latin typeface="+mn-lt"/>
        <a:ea typeface="+mn-ea"/>
        <a:cs typeface="+mn-cs"/>
        <a:sym typeface="Calibri"/>
      </a:defRPr>
    </a:lvl3pPr>
    <a:lvl4pPr indent="1028700" defTabSz="457200">
      <a:buClr>
        <a:srgbClr val="000000"/>
      </a:buClr>
      <a:buFont typeface="Calibri"/>
      <a:defRPr>
        <a:uFill>
          <a:solidFill/>
        </a:uFill>
        <a:latin typeface="+mn-lt"/>
        <a:ea typeface="+mn-ea"/>
        <a:cs typeface="+mn-cs"/>
        <a:sym typeface="Calibri"/>
      </a:defRPr>
    </a:lvl4pPr>
    <a:lvl5pPr indent="1371600" defTabSz="457200">
      <a:buClr>
        <a:srgbClr val="000000"/>
      </a:buClr>
      <a:buFont typeface="Calibri"/>
      <a:defRPr>
        <a:uFill>
          <a:solidFill/>
        </a:uFill>
        <a:latin typeface="+mn-lt"/>
        <a:ea typeface="+mn-ea"/>
        <a:cs typeface="+mn-cs"/>
        <a:sym typeface="Calibri"/>
      </a:defRPr>
    </a:lvl5pPr>
    <a:lvl6pPr indent="1714500" defTabSz="457200">
      <a:buClr>
        <a:srgbClr val="000000"/>
      </a:buClr>
      <a:buFont typeface="Calibri"/>
      <a:defRPr>
        <a:uFill>
          <a:solidFill/>
        </a:uFill>
        <a:latin typeface="+mn-lt"/>
        <a:ea typeface="+mn-ea"/>
        <a:cs typeface="+mn-cs"/>
        <a:sym typeface="Calibri"/>
      </a:defRPr>
    </a:lvl6pPr>
    <a:lvl7pPr indent="2057400" defTabSz="457200">
      <a:buClr>
        <a:srgbClr val="000000"/>
      </a:buClr>
      <a:buFont typeface="Calibri"/>
      <a:defRPr>
        <a:uFill>
          <a:solidFill/>
        </a:uFill>
        <a:latin typeface="+mn-lt"/>
        <a:ea typeface="+mn-ea"/>
        <a:cs typeface="+mn-cs"/>
        <a:sym typeface="Calibri"/>
      </a:defRPr>
    </a:lvl7pPr>
    <a:lvl8pPr indent="2400300" defTabSz="457200">
      <a:buClr>
        <a:srgbClr val="000000"/>
      </a:buClr>
      <a:buFont typeface="Calibri"/>
      <a:defRPr>
        <a:uFill>
          <a:solidFill/>
        </a:uFill>
        <a:latin typeface="+mn-lt"/>
        <a:ea typeface="+mn-ea"/>
        <a:cs typeface="+mn-cs"/>
        <a:sym typeface="Calibri"/>
      </a:defRPr>
    </a:lvl8pPr>
    <a:lvl9pPr indent="2743200" defTabSz="457200">
      <a:buClr>
        <a:srgbClr val="000000"/>
      </a:buClr>
      <a:buFont typeface="Calibri"/>
      <a:defRPr>
        <a:uFill>
          <a:solidFill/>
        </a:uFill>
        <a:latin typeface="+mn-lt"/>
        <a:ea typeface="+mn-ea"/>
        <a:cs typeface="+mn-cs"/>
        <a:sym typeface="Calibri"/>
      </a:defRPr>
    </a:lvl9pPr>
  </p:defaultTextStyle>
  <p:extLst>
    <p:ext uri="{521415D9-36F7-43E2-AB2F-B90AF26B5E84}">
      <p14:sectionLst xmlns:p14="http://schemas.microsoft.com/office/powerpoint/2010/main">
        <p14:section name="Default Section" id="{E347D57E-4708-4FA0-BE30-09F3E92F9690}">
          <p14:sldIdLst>
            <p14:sldId id="256"/>
            <p14:sldId id="257"/>
            <p14:sldId id="265"/>
            <p14:sldId id="259"/>
            <p14:sldId id="260"/>
            <p14:sldId id="261"/>
            <p14:sldId id="272"/>
            <p14:sldId id="271"/>
            <p14:sldId id="270"/>
            <p14:sldId id="266"/>
            <p14:sldId id="264"/>
            <p14:sldId id="273"/>
          </p14:sldIdLst>
        </p14:section>
        <p14:section name="Default Section" id="{65B022AA-209E-473B-A4E6-56285D175B0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244D"/>
    <a:srgbClr val="496E9C"/>
    <a:srgbClr val="F68026"/>
    <a:srgbClr val="DD55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B555A6-F089-4279-A3DC-7232291B8924}" v="125" dt="2022-07-19T13:34:34.576"/>
    <p1510:client id="{FD602889-D4B9-4FD2-8A1A-E4C57B106A6B}" v="79" dt="2022-04-22T13:05:25.540"/>
  </p1510:revLst>
</p1510:revInfo>
</file>

<file path=ppt/tableStyles.xml><?xml version="1.0" encoding="utf-8"?>
<a:tblStyleLst xmlns:a="http://schemas.openxmlformats.org/drawingml/2006/main" def="{5940675A-B579-460E-94D1-54222C63F5DA}">
  <a:tblStyle styleId="{8F44A2F1-9E1F-4B54-A3A2-5F16C0AD49E2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1EAF4"/>
          </a:solidFill>
        </a:fill>
      </a:tcStyle>
    </a:wholeTbl>
    <a:band2H>
      <a:tcTxStyle/>
      <a:tcStyle>
        <a:tcBdr/>
        <a:fill>
          <a:solidFill>
            <a:srgbClr val="F1F5FA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381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6095C9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6095C9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6095C9"/>
          </a:solidFill>
        </a:fill>
      </a:tcStyle>
    </a:firstRow>
  </a:tblStyle>
  <a:tblStyle styleId="{C7B018BB-80A7-4F77-B60F-C8B233D01FF8}" styleName="">
    <a:tblBg/>
    <a:wholeTbl>
      <a:tcTxStyle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>
        <a:font>
          <a:latin typeface="Helvetica Light"/>
          <a:ea typeface="Helvetica Light"/>
          <a:cs typeface="Helvetica Light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>
        <a:font>
          <a:latin typeface="Helvetica Light"/>
          <a:ea typeface="Helvetica Light"/>
          <a:cs typeface="Helvetica Light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00882B"/>
          </a:solidFill>
        </a:fill>
      </a:tcStyle>
    </a:firstRow>
  </a:tblStyle>
  <a:tblStyle styleId="{EEE7283C-3CF3-47DC-8721-378D4A62B228}" styleName="">
    <a:tblBg/>
    <a:wholeTbl>
      <a:tcTxStyle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3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>
        <a:font>
          <a:latin typeface="Helvetica Light"/>
          <a:ea typeface="Helvetica Light"/>
          <a:cs typeface="Helvetica Light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>
        <a:font>
          <a:latin typeface="Helvetica Light"/>
          <a:ea typeface="Helvetica Light"/>
          <a:cs typeface="Helvetica Light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>
        <a:font>
          <a:latin typeface="Helvetica Light"/>
          <a:ea typeface="Helvetica Light"/>
          <a:cs typeface="Helvetica Light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>
        <a:font>
          <a:latin typeface="Helvetica Light"/>
          <a:ea typeface="Helvetica Light"/>
          <a:cs typeface="Helvetica Light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>
        <a:font>
          <a:latin typeface="Helvetica Light"/>
          <a:ea typeface="Helvetica Light"/>
          <a:cs typeface="Helvetica Light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>
        <a:font>
          <a:latin typeface="Helvetica Light"/>
          <a:ea typeface="Helvetica Light"/>
          <a:cs typeface="Helvetica Light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>
        <a:font>
          <a:latin typeface="Helvetica Light"/>
          <a:ea typeface="Helvetica Light"/>
          <a:cs typeface="Helvetica Ligh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>
        <a:font>
          <a:latin typeface="Helvetica Light"/>
          <a:ea typeface="Helvetica Light"/>
          <a:cs typeface="Helvetica Ligh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>
        <a:font>
          <a:latin typeface="Helvetica Light"/>
          <a:ea typeface="Helvetica Light"/>
          <a:cs typeface="Helvetica Ligh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  <a:tblStyle styleId="{4C3C2611-4C71-4FC5-86AE-919BDF0F9419}" styleName="">
    <a:tblBg/>
    <a:wholeTbl>
      <a:tcTxStyle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>
        <a:font>
          <a:latin typeface="Helvetica Light"/>
          <a:ea typeface="Helvetica Light"/>
          <a:cs typeface="Helvetica Light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>
        <a:font>
          <a:latin typeface="Helvetica Light"/>
          <a:ea typeface="Helvetica Light"/>
          <a:cs typeface="Helvetica Light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365C0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20" autoAdjust="0"/>
    <p:restoredTop sz="93909" autoAdjust="0"/>
  </p:normalViewPr>
  <p:slideViewPr>
    <p:cSldViewPr snapToGrid="0" snapToObjects="1">
      <p:cViewPr varScale="1">
        <p:scale>
          <a:sx n="100" d="100"/>
          <a:sy n="100" d="100"/>
        </p:scale>
        <p:origin x="984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72FF73-3B8F-A544-A0A0-42F2B80C88BC}" type="datetimeFigureOut">
              <a:rPr lang="en-US" smtClean="0"/>
              <a:t>11/21/2025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E7C57B-DB5A-054E-86C1-F8B7CA8338F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853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4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  <a:prstGeom prst="rect">
            <a:avLst/>
          </a:prstGeom>
        </p:spPr>
        <p:txBody>
          <a:bodyPr/>
          <a:lstStyle/>
          <a:p>
            <a:pPr lvl="0"/>
            <a:endParaRPr dirty="0"/>
          </a:p>
        </p:txBody>
      </p:sp>
      <p:sp>
        <p:nvSpPr>
          <p:cNvPr id="42" name="Shape 42"/>
          <p:cNvSpPr>
            <a:spLocks noGrp="1"/>
          </p:cNvSpPr>
          <p:nvPr>
            <p:ph type="body" sz="quarter" idx="1"/>
          </p:nvPr>
        </p:nvSpPr>
        <p:spPr>
          <a:xfrm>
            <a:off x="1219200" y="3257550"/>
            <a:ext cx="6705600" cy="3086100"/>
          </a:xfrm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</p:spTree>
    <p:extLst>
      <p:ext uri="{BB962C8B-B14F-4D97-AF65-F5344CB8AC3E}">
        <p14:creationId xmlns:p14="http://schemas.microsoft.com/office/powerpoint/2010/main" val="1460961498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584200">
      <a:defRPr sz="2200">
        <a:latin typeface="Lucida Grande"/>
        <a:ea typeface="Lucida Grande"/>
        <a:cs typeface="Lucida Grande"/>
        <a:sym typeface="Lucida Grande"/>
      </a:defRPr>
    </a:lvl1pPr>
    <a:lvl2pPr indent="228600" defTabSz="584200">
      <a:defRPr sz="2200">
        <a:latin typeface="Lucida Grande"/>
        <a:ea typeface="Lucida Grande"/>
        <a:cs typeface="Lucida Grande"/>
        <a:sym typeface="Lucida Grande"/>
      </a:defRPr>
    </a:lvl2pPr>
    <a:lvl3pPr indent="457200" defTabSz="584200">
      <a:defRPr sz="2200">
        <a:latin typeface="Lucida Grande"/>
        <a:ea typeface="Lucida Grande"/>
        <a:cs typeface="Lucida Grande"/>
        <a:sym typeface="Lucida Grande"/>
      </a:defRPr>
    </a:lvl3pPr>
    <a:lvl4pPr indent="685800" defTabSz="584200">
      <a:defRPr sz="2200">
        <a:latin typeface="Lucida Grande"/>
        <a:ea typeface="Lucida Grande"/>
        <a:cs typeface="Lucida Grande"/>
        <a:sym typeface="Lucida Grande"/>
      </a:defRPr>
    </a:lvl4pPr>
    <a:lvl5pPr indent="914400" defTabSz="584200">
      <a:defRPr sz="2200">
        <a:latin typeface="Lucida Grande"/>
        <a:ea typeface="Lucida Grande"/>
        <a:cs typeface="Lucida Grande"/>
        <a:sym typeface="Lucida Grande"/>
      </a:defRPr>
    </a:lvl5pPr>
    <a:lvl6pPr indent="1143000" defTabSz="584200">
      <a:defRPr sz="2200">
        <a:latin typeface="Lucida Grande"/>
        <a:ea typeface="Lucida Grande"/>
        <a:cs typeface="Lucida Grande"/>
        <a:sym typeface="Lucida Grande"/>
      </a:defRPr>
    </a:lvl6pPr>
    <a:lvl7pPr indent="1371600" defTabSz="584200">
      <a:defRPr sz="2200">
        <a:latin typeface="Lucida Grande"/>
        <a:ea typeface="Lucida Grande"/>
        <a:cs typeface="Lucida Grande"/>
        <a:sym typeface="Lucida Grande"/>
      </a:defRPr>
    </a:lvl7pPr>
    <a:lvl8pPr indent="1600200" defTabSz="584200">
      <a:defRPr sz="2200">
        <a:latin typeface="Lucida Grande"/>
        <a:ea typeface="Lucida Grande"/>
        <a:cs typeface="Lucida Grande"/>
        <a:sym typeface="Lucida Grande"/>
      </a:defRPr>
    </a:lvl8pPr>
    <a:lvl9pPr indent="1828800" defTabSz="584200">
      <a:defRPr sz="2200">
        <a:latin typeface="Lucida Grande"/>
        <a:ea typeface="Lucida Grande"/>
        <a:cs typeface="Lucida Grande"/>
        <a:sym typeface="Lucida Grand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48CF9-3783-4464-B8A6-36002A805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BCA0D1-A551-404D-9B92-0FCD64BCB8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35540" y="6379322"/>
            <a:ext cx="2743200" cy="365125"/>
          </a:xfrm>
          <a:prstGeom prst="rect">
            <a:avLst/>
          </a:prstGeom>
        </p:spPr>
        <p:txBody>
          <a:bodyPr/>
          <a:lstStyle/>
          <a:p>
            <a:fld id="{CAC3FE34-2808-40E6-BEA2-B7CA77D47CA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13E940-64C2-4219-AF3E-2EA4252ADA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5540" y="1341438"/>
            <a:ext cx="11899298" cy="49117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1056165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48CF9-3783-4464-B8A6-36002A805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BCA0D1-A551-404D-9B92-0FCD64BCB8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35540" y="6379322"/>
            <a:ext cx="2743200" cy="365125"/>
          </a:xfrm>
          <a:prstGeom prst="rect">
            <a:avLst/>
          </a:prstGeom>
        </p:spPr>
        <p:txBody>
          <a:bodyPr/>
          <a:lstStyle/>
          <a:p>
            <a:fld id="{CAC3FE34-2808-40E6-BEA2-B7CA77D47CA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13E940-64C2-4219-AF3E-2EA4252ADA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5540" y="1341438"/>
            <a:ext cx="5960460" cy="49117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88865753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48CF9-3783-4464-B8A6-36002A805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BCA0D1-A551-404D-9B92-0FCD64BCB8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35540" y="6379322"/>
            <a:ext cx="2743200" cy="365125"/>
          </a:xfrm>
          <a:prstGeom prst="rect">
            <a:avLst/>
          </a:prstGeom>
        </p:spPr>
        <p:txBody>
          <a:bodyPr/>
          <a:lstStyle/>
          <a:p>
            <a:fld id="{CAC3FE34-2808-40E6-BEA2-B7CA77D47CA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13E940-64C2-4219-AF3E-2EA4252ADA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096000" y="1341438"/>
            <a:ext cx="5938838" cy="49117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41633695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E80C0-A472-473F-946E-12445524F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58CB85-E592-48C3-A33C-B2127E652C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35540" y="6379322"/>
            <a:ext cx="2743200" cy="365125"/>
          </a:xfrm>
          <a:prstGeom prst="rect">
            <a:avLst/>
          </a:prstGeom>
        </p:spPr>
        <p:txBody>
          <a:bodyPr/>
          <a:lstStyle/>
          <a:p>
            <a:fld id="{CAC3FE34-2808-40E6-BEA2-B7CA77D47CA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7155394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E80C0-A472-473F-946E-12445524F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594" y="2648883"/>
            <a:ext cx="10515600" cy="908220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58CB85-E592-48C3-A33C-B2127E652C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35540" y="6379322"/>
            <a:ext cx="2743200" cy="365125"/>
          </a:xfrm>
          <a:prstGeom prst="rect">
            <a:avLst/>
          </a:prstGeom>
        </p:spPr>
        <p:txBody>
          <a:bodyPr/>
          <a:lstStyle/>
          <a:p>
            <a:fld id="{CAC3FE34-2808-40E6-BEA2-B7CA77D47CA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4467784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525C512-E52E-4491-B6A5-8306962CF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724983"/>
            <a:ext cx="10515600" cy="908220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hape 10">
            <a:extLst>
              <a:ext uri="{FF2B5EF4-FFF2-40B4-BE49-F238E27FC236}">
                <a16:creationId xmlns:a16="http://schemas.microsoft.com/office/drawing/2014/main" id="{84D2BF3C-06DA-4852-871F-842B35B156B1}"/>
              </a:ext>
            </a:extLst>
          </p:cNvPr>
          <p:cNvSpPr/>
          <p:nvPr userDrawn="1"/>
        </p:nvSpPr>
        <p:spPr>
          <a:xfrm>
            <a:off x="-5161" y="4835023"/>
            <a:ext cx="12197162" cy="2022977"/>
          </a:xfrm>
          <a:prstGeom prst="rect">
            <a:avLst/>
          </a:prstGeom>
          <a:solidFill>
            <a:schemeClr val="accent1"/>
          </a:solidFill>
          <a:ln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38100" tIns="38100" rIns="38100" bIns="38100" anchor="ctr"/>
          <a:lstStyle/>
          <a:p>
            <a:pPr lvl="0" algn="ctr" defTabSz="584200">
              <a:buClr>
                <a:srgbClr val="FFFFFF"/>
              </a:buCl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>
                  <a:solidFill>
                    <a:srgbClr val="FFFFFF"/>
                  </a:solidFill>
                </a:uFill>
              </a:defRPr>
            </a:pPr>
            <a:endParaRPr sz="4000"/>
          </a:p>
        </p:txBody>
      </p:sp>
      <p:sp>
        <p:nvSpPr>
          <p:cNvPr id="7" name="Shape 11">
            <a:extLst>
              <a:ext uri="{FF2B5EF4-FFF2-40B4-BE49-F238E27FC236}">
                <a16:creationId xmlns:a16="http://schemas.microsoft.com/office/drawing/2014/main" id="{4B4A40CC-DF18-4A78-92C8-FD234B6AF4FB}"/>
              </a:ext>
            </a:extLst>
          </p:cNvPr>
          <p:cNvSpPr/>
          <p:nvPr userDrawn="1"/>
        </p:nvSpPr>
        <p:spPr>
          <a:xfrm>
            <a:off x="-1" y="4504664"/>
            <a:ext cx="12192001" cy="250980"/>
          </a:xfrm>
          <a:prstGeom prst="rect">
            <a:avLst/>
          </a:prstGeom>
          <a:solidFill>
            <a:schemeClr val="accent2"/>
          </a:solidFill>
          <a:ln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38100" tIns="38100" rIns="38100" bIns="38100" anchor="ctr"/>
          <a:lstStyle/>
          <a:p>
            <a:pPr lvl="0" algn="ctr" defTabSz="584200">
              <a:buClr>
                <a:srgbClr val="FFFFFF"/>
              </a:buCl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>
                  <a:solidFill>
                    <a:srgbClr val="FFFFFF"/>
                  </a:solidFill>
                </a:uFill>
              </a:defRPr>
            </a:pPr>
            <a:endParaRPr sz="400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B7015D5-D328-4085-BCB3-E5EFDBA40E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7297" y="5292486"/>
            <a:ext cx="3410716" cy="9055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63EEB5A-61D8-4E03-95F6-8FDF43DA8B0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3989" y="5527894"/>
            <a:ext cx="3064784" cy="637233"/>
          </a:xfrm>
          <a:prstGeom prst="rect">
            <a:avLst/>
          </a:prstGeom>
        </p:spPr>
      </p:pic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60D04BA-2EFD-495E-BA43-5DEC86A797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254845" y="2833686"/>
            <a:ext cx="7677150" cy="742950"/>
          </a:xfrm>
        </p:spPr>
        <p:txBody>
          <a:bodyPr/>
          <a:lstStyle>
            <a:lvl1pPr marL="0" indent="0" algn="ctr">
              <a:buNone/>
              <a:defRPr b="1">
                <a:solidFill>
                  <a:schemeClr val="accent3"/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5719712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eren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48CF9-3783-4464-B8A6-36002A805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BCA0D1-A551-404D-9B92-0FCD64BCB8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35540" y="6379322"/>
            <a:ext cx="2743200" cy="365125"/>
          </a:xfrm>
          <a:prstGeom prst="rect">
            <a:avLst/>
          </a:prstGeom>
        </p:spPr>
        <p:txBody>
          <a:bodyPr/>
          <a:lstStyle/>
          <a:p>
            <a:fld id="{CAC3FE34-2808-40E6-BEA2-B7CA77D47CA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13E940-64C2-4219-AF3E-2EA4252ADA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5540" y="1341438"/>
            <a:ext cx="11899298" cy="4911725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6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3000592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3.emf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-1" y="0"/>
            <a:ext cx="12192001" cy="1031960"/>
          </a:xfrm>
          <a:prstGeom prst="rect">
            <a:avLst/>
          </a:prstGeom>
          <a:solidFill>
            <a:schemeClr val="accent1"/>
          </a:solidFill>
          <a:ln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38100" tIns="38100" rIns="38100" bIns="38100" anchor="ctr"/>
          <a:lstStyle/>
          <a:p>
            <a:pPr lvl="0" algn="ctr" defTabSz="584200">
              <a:buClr>
                <a:srgbClr val="FFFFFF"/>
              </a:buCl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>
                  <a:solidFill>
                    <a:srgbClr val="FFFFFF"/>
                  </a:solidFill>
                </a:uFill>
              </a:defRPr>
            </a:pPr>
            <a:endParaRPr sz="4000" dirty="0"/>
          </a:p>
        </p:txBody>
      </p:sp>
      <p:sp>
        <p:nvSpPr>
          <p:cNvPr id="3" name="Shape 3"/>
          <p:cNvSpPr/>
          <p:nvPr/>
        </p:nvSpPr>
        <p:spPr>
          <a:xfrm>
            <a:off x="-5161" y="1088660"/>
            <a:ext cx="12197162" cy="124744"/>
          </a:xfrm>
          <a:prstGeom prst="rect">
            <a:avLst/>
          </a:prstGeom>
          <a:solidFill>
            <a:schemeClr val="accent2"/>
          </a:solidFill>
          <a:ln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38100" tIns="38100" rIns="38100" bIns="38100" anchor="ctr"/>
          <a:lstStyle/>
          <a:p>
            <a:pPr lvl="0" algn="ctr" defTabSz="584200">
              <a:buClr>
                <a:srgbClr val="FFFFFF"/>
              </a:buCl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>
                  <a:solidFill>
                    <a:srgbClr val="FFFFFF"/>
                  </a:solidFill>
                </a:uFill>
              </a:defRPr>
            </a:pPr>
            <a:endParaRPr sz="4000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CE1DF323-4AB6-4C7F-9384-39FB99DB3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540" y="54785"/>
            <a:ext cx="10515600" cy="9082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1BA5D06-D170-47ED-AE85-C8D06E5935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9506" y="1346662"/>
            <a:ext cx="11733876" cy="483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1B03E19-3093-441F-8F89-2ECF95EA3D4C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0049" y="221956"/>
            <a:ext cx="2066411" cy="548640"/>
          </a:xfrm>
          <a:prstGeom prst="rect">
            <a:avLst/>
          </a:prstGeom>
        </p:spPr>
      </p:pic>
      <p:pic>
        <p:nvPicPr>
          <p:cNvPr id="13" name="Picture 12" descr="gavlablogoMAINcarSatLargeLinesNoOrb_DigMedia.pdf">
            <a:extLst>
              <a:ext uri="{FF2B5EF4-FFF2-40B4-BE49-F238E27FC236}">
                <a16:creationId xmlns:a16="http://schemas.microsoft.com/office/drawing/2014/main" id="{6FEAE682-AFFA-42A1-ADFD-BBD259FEAC96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3900" y="6126536"/>
            <a:ext cx="1272560" cy="61791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B168F3-7D39-415A-969D-8B14E6597E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99506" y="637932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>
                <a:solidFill>
                  <a:schemeClr val="accent6"/>
                </a:solidFill>
              </a:defRPr>
            </a:lvl1pPr>
          </a:lstStyle>
          <a:p>
            <a:fld id="{6F7E17C5-CAD7-41CE-B7A4-73834715E46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49" r:id="rId6"/>
    <p:sldLayoutId id="2147483655" r:id="rId7"/>
  </p:sldLayoutIdLst>
  <p:transition spd="med"/>
  <p:hf hdr="0" ftr="0" dt="0"/>
  <p:txStyles>
    <p:titleStyle>
      <a:lvl1pPr defTabSz="457200">
        <a:defRPr sz="3200" b="1">
          <a:solidFill>
            <a:srgbClr val="FFFFFF"/>
          </a:solidFill>
          <a:uFill>
            <a:solidFill>
              <a:srgbClr val="FFFFFF"/>
            </a:solidFill>
          </a:uFill>
          <a:latin typeface="+mj-lt"/>
          <a:ea typeface="+mn-ea"/>
          <a:cs typeface="Arial" panose="020B0604020202020204" pitchFamily="34" charset="0"/>
          <a:sym typeface="Calibri"/>
        </a:defRPr>
      </a:lvl1pPr>
      <a:lvl2pPr indent="228600" defTabSz="457200">
        <a:defRPr sz="3500" b="1">
          <a:solidFill>
            <a:srgbClr val="FFFFFF"/>
          </a:solidFill>
          <a:uFill>
            <a:solidFill>
              <a:srgbClr val="FFFFFF"/>
            </a:solidFill>
          </a:uFill>
          <a:latin typeface="+mn-lt"/>
          <a:ea typeface="+mn-ea"/>
          <a:cs typeface="+mn-cs"/>
          <a:sym typeface="Calibri"/>
        </a:defRPr>
      </a:lvl2pPr>
      <a:lvl3pPr indent="457200" defTabSz="457200">
        <a:defRPr sz="3500" b="1">
          <a:solidFill>
            <a:srgbClr val="FFFFFF"/>
          </a:solidFill>
          <a:uFill>
            <a:solidFill>
              <a:srgbClr val="FFFFFF"/>
            </a:solidFill>
          </a:uFill>
          <a:latin typeface="+mn-lt"/>
          <a:ea typeface="+mn-ea"/>
          <a:cs typeface="+mn-cs"/>
          <a:sym typeface="Calibri"/>
        </a:defRPr>
      </a:lvl3pPr>
      <a:lvl4pPr indent="685800" defTabSz="457200">
        <a:defRPr sz="3500" b="1">
          <a:solidFill>
            <a:srgbClr val="FFFFFF"/>
          </a:solidFill>
          <a:uFill>
            <a:solidFill>
              <a:srgbClr val="FFFFFF"/>
            </a:solidFill>
          </a:uFill>
          <a:latin typeface="+mn-lt"/>
          <a:ea typeface="+mn-ea"/>
          <a:cs typeface="+mn-cs"/>
          <a:sym typeface="Calibri"/>
        </a:defRPr>
      </a:lvl4pPr>
      <a:lvl5pPr indent="914400" defTabSz="457200">
        <a:defRPr sz="3500" b="1">
          <a:solidFill>
            <a:srgbClr val="FFFFFF"/>
          </a:solidFill>
          <a:uFill>
            <a:solidFill>
              <a:srgbClr val="FFFFFF"/>
            </a:solidFill>
          </a:uFill>
          <a:latin typeface="+mn-lt"/>
          <a:ea typeface="+mn-ea"/>
          <a:cs typeface="+mn-cs"/>
          <a:sym typeface="Calibri"/>
        </a:defRPr>
      </a:lvl5pPr>
      <a:lvl6pPr indent="1143000" defTabSz="457200">
        <a:defRPr sz="3500" b="1">
          <a:solidFill>
            <a:srgbClr val="FFFFFF"/>
          </a:solidFill>
          <a:uFill>
            <a:solidFill>
              <a:srgbClr val="FFFFFF"/>
            </a:solidFill>
          </a:uFill>
          <a:latin typeface="+mn-lt"/>
          <a:ea typeface="+mn-ea"/>
          <a:cs typeface="+mn-cs"/>
          <a:sym typeface="Calibri"/>
        </a:defRPr>
      </a:lvl6pPr>
      <a:lvl7pPr indent="1371600" defTabSz="457200">
        <a:defRPr sz="3500" b="1">
          <a:solidFill>
            <a:srgbClr val="FFFFFF"/>
          </a:solidFill>
          <a:uFill>
            <a:solidFill>
              <a:srgbClr val="FFFFFF"/>
            </a:solidFill>
          </a:uFill>
          <a:latin typeface="+mn-lt"/>
          <a:ea typeface="+mn-ea"/>
          <a:cs typeface="+mn-cs"/>
          <a:sym typeface="Calibri"/>
        </a:defRPr>
      </a:lvl7pPr>
      <a:lvl8pPr indent="1600200" defTabSz="457200">
        <a:defRPr sz="3500" b="1">
          <a:solidFill>
            <a:srgbClr val="FFFFFF"/>
          </a:solidFill>
          <a:uFill>
            <a:solidFill>
              <a:srgbClr val="FFFFFF"/>
            </a:solidFill>
          </a:uFill>
          <a:latin typeface="+mn-lt"/>
          <a:ea typeface="+mn-ea"/>
          <a:cs typeface="+mn-cs"/>
          <a:sym typeface="Calibri"/>
        </a:defRPr>
      </a:lvl8pPr>
      <a:lvl9pPr indent="1828800" defTabSz="457200">
        <a:defRPr sz="3500" b="1">
          <a:solidFill>
            <a:srgbClr val="FFFFFF"/>
          </a:solidFill>
          <a:uFill>
            <a:solidFill>
              <a:srgbClr val="FFFFFF"/>
            </a:solidFill>
          </a:uFill>
          <a:latin typeface="+mn-lt"/>
          <a:ea typeface="+mn-ea"/>
          <a:cs typeface="+mn-cs"/>
          <a:sym typeface="Calibri"/>
        </a:defRPr>
      </a:lvl9pPr>
    </p:titleStyle>
    <p:bodyStyle>
      <a:lvl1pPr marL="342900" indent="-342900" defTabSz="457200">
        <a:spcBef>
          <a:spcPts val="700"/>
        </a:spcBef>
        <a:buClr>
          <a:srgbClr val="000000"/>
        </a:buClr>
        <a:buSzPct val="100000"/>
        <a:buFont typeface="Arial"/>
        <a:buChar char="•"/>
        <a:defRPr sz="2800">
          <a:solidFill>
            <a:srgbClr val="03244D"/>
          </a:solidFill>
          <a:uFill>
            <a:solidFill/>
          </a:uFill>
          <a:latin typeface="+mn-lt"/>
          <a:ea typeface="+mn-ea"/>
          <a:cs typeface="Arial" panose="020B0604020202020204" pitchFamily="34" charset="0"/>
          <a:sym typeface="Calibri"/>
        </a:defRPr>
      </a:lvl1pPr>
      <a:lvl2pPr marL="783771" indent="-326571" defTabSz="457200">
        <a:spcBef>
          <a:spcPts val="700"/>
        </a:spcBef>
        <a:buClr>
          <a:srgbClr val="000000"/>
        </a:buClr>
        <a:buSzPct val="100000"/>
        <a:buFont typeface="Arial"/>
        <a:buChar char="•"/>
        <a:defRPr sz="2400">
          <a:solidFill>
            <a:srgbClr val="03244D"/>
          </a:solidFill>
          <a:uFill>
            <a:solidFill/>
          </a:uFill>
          <a:latin typeface="+mn-lt"/>
          <a:ea typeface="+mn-ea"/>
          <a:cs typeface="Arial" panose="020B0604020202020204" pitchFamily="34" charset="0"/>
          <a:sym typeface="Calibri"/>
        </a:defRPr>
      </a:lvl2pPr>
      <a:lvl3pPr marL="1219200" indent="-304800" defTabSz="457200">
        <a:spcBef>
          <a:spcPts val="700"/>
        </a:spcBef>
        <a:buClr>
          <a:srgbClr val="000000"/>
        </a:buClr>
        <a:buSzPct val="100000"/>
        <a:buFont typeface="Arial"/>
        <a:buChar char="•"/>
        <a:defRPr sz="2000">
          <a:solidFill>
            <a:srgbClr val="03244D"/>
          </a:solidFill>
          <a:uFill>
            <a:solidFill/>
          </a:uFill>
          <a:latin typeface="+mn-lt"/>
          <a:ea typeface="+mn-ea"/>
          <a:cs typeface="Arial" panose="020B0604020202020204" pitchFamily="34" charset="0"/>
          <a:sym typeface="Calibri"/>
        </a:defRPr>
      </a:lvl3pPr>
      <a:lvl4pPr marL="1737360" indent="-365760" defTabSz="457200">
        <a:spcBef>
          <a:spcPts val="700"/>
        </a:spcBef>
        <a:buClr>
          <a:srgbClr val="000000"/>
        </a:buClr>
        <a:buSzPct val="100000"/>
        <a:buFont typeface="Arial"/>
        <a:buChar char="•"/>
        <a:defRPr sz="2000">
          <a:solidFill>
            <a:srgbClr val="03244D"/>
          </a:solidFill>
          <a:uFill>
            <a:solidFill/>
          </a:uFill>
          <a:latin typeface="+mn-lt"/>
          <a:ea typeface="+mn-ea"/>
          <a:cs typeface="Arial" panose="020B0604020202020204" pitchFamily="34" charset="0"/>
          <a:sym typeface="Calibri"/>
        </a:defRPr>
      </a:lvl4pPr>
      <a:lvl5pPr marL="2194560" indent="-365760" defTabSz="457200">
        <a:spcBef>
          <a:spcPts val="700"/>
        </a:spcBef>
        <a:buClr>
          <a:srgbClr val="000000"/>
        </a:buClr>
        <a:buSzPct val="100000"/>
        <a:buFont typeface="Arial"/>
        <a:buChar char="•"/>
        <a:defRPr sz="2000">
          <a:solidFill>
            <a:srgbClr val="03244D"/>
          </a:solidFill>
          <a:uFill>
            <a:solidFill/>
          </a:uFill>
          <a:latin typeface="+mn-lt"/>
          <a:ea typeface="+mn-ea"/>
          <a:cs typeface="Arial" panose="020B0604020202020204" pitchFamily="34" charset="0"/>
          <a:sym typeface="Calibri"/>
        </a:defRPr>
      </a:lvl5pPr>
      <a:lvl6pPr marL="2451100" indent="0" defTabSz="457200">
        <a:spcBef>
          <a:spcPts val="700"/>
        </a:spcBef>
        <a:buClr>
          <a:srgbClr val="000000"/>
        </a:buClr>
        <a:buSzPct val="171000"/>
        <a:buFont typeface="Arial"/>
        <a:buNone/>
        <a:defRPr sz="1800">
          <a:solidFill>
            <a:srgbClr val="03244D"/>
          </a:solidFill>
          <a:uFill>
            <a:solidFill/>
          </a:uFill>
          <a:latin typeface="Arial" panose="020B0604020202020204" pitchFamily="34" charset="0"/>
          <a:ea typeface="+mn-ea"/>
          <a:cs typeface="Arial" panose="020B0604020202020204" pitchFamily="34" charset="0"/>
          <a:sym typeface="Calibri"/>
        </a:defRPr>
      </a:lvl6pPr>
      <a:lvl7pPr marL="3721100" indent="-914400" defTabSz="457200">
        <a:spcBef>
          <a:spcPts val="700"/>
        </a:spcBef>
        <a:buClr>
          <a:srgbClr val="000000"/>
        </a:buClr>
        <a:buSzPct val="171000"/>
        <a:buFont typeface="Arial"/>
        <a:buChar char="•"/>
        <a:defRPr sz="3200">
          <a:uFill>
            <a:solidFill/>
          </a:uFill>
          <a:latin typeface="+mn-lt"/>
          <a:ea typeface="+mn-ea"/>
          <a:cs typeface="+mn-cs"/>
          <a:sym typeface="Calibri"/>
        </a:defRPr>
      </a:lvl7pPr>
      <a:lvl8pPr marL="4076700" indent="-914400" defTabSz="457200">
        <a:spcBef>
          <a:spcPts val="700"/>
        </a:spcBef>
        <a:buClr>
          <a:srgbClr val="000000"/>
        </a:buClr>
        <a:buSzPct val="171000"/>
        <a:buFont typeface="Arial"/>
        <a:buChar char="•"/>
        <a:defRPr sz="3200">
          <a:uFill>
            <a:solidFill/>
          </a:uFill>
          <a:latin typeface="+mn-lt"/>
          <a:ea typeface="+mn-ea"/>
          <a:cs typeface="+mn-cs"/>
          <a:sym typeface="Calibri"/>
        </a:defRPr>
      </a:lvl8pPr>
      <a:lvl9pPr marL="4432300" indent="-914400" defTabSz="457200">
        <a:spcBef>
          <a:spcPts val="700"/>
        </a:spcBef>
        <a:buClr>
          <a:srgbClr val="000000"/>
        </a:buClr>
        <a:buSzPct val="171000"/>
        <a:buFont typeface="Arial"/>
        <a:buChar char="•"/>
        <a:defRPr sz="3200">
          <a:uFill>
            <a:solidFill/>
          </a:uFill>
          <a:latin typeface="+mn-lt"/>
          <a:ea typeface="+mn-ea"/>
          <a:cs typeface="+mn-cs"/>
          <a:sym typeface="Calibri"/>
        </a:defRPr>
      </a:lvl9pPr>
    </p:bodyStyle>
    <p:otherStyle>
      <a:lvl1pPr algn="r" defTabSz="457200">
        <a:defRPr sz="1200">
          <a:solidFill>
            <a:schemeClr val="tx1"/>
          </a:solidFill>
          <a:uFill>
            <a:solidFill/>
          </a:uFill>
          <a:latin typeface="+mn-lt"/>
          <a:ea typeface="+mn-ea"/>
          <a:cs typeface="+mn-cs"/>
          <a:sym typeface="Calibri"/>
        </a:defRPr>
      </a:lvl1pPr>
      <a:lvl2pPr algn="r" defTabSz="457200">
        <a:defRPr sz="1200">
          <a:solidFill>
            <a:schemeClr val="tx1"/>
          </a:solidFill>
          <a:uFill>
            <a:solidFill/>
          </a:uFill>
          <a:latin typeface="+mn-lt"/>
          <a:ea typeface="+mn-ea"/>
          <a:cs typeface="+mn-cs"/>
          <a:sym typeface="Calibri"/>
        </a:defRPr>
      </a:lvl2pPr>
      <a:lvl3pPr algn="r" defTabSz="457200">
        <a:defRPr sz="1200">
          <a:solidFill>
            <a:schemeClr val="tx1"/>
          </a:solidFill>
          <a:uFill>
            <a:solidFill/>
          </a:uFill>
          <a:latin typeface="+mn-lt"/>
          <a:ea typeface="+mn-ea"/>
          <a:cs typeface="+mn-cs"/>
          <a:sym typeface="Calibri"/>
        </a:defRPr>
      </a:lvl3pPr>
      <a:lvl4pPr algn="r" defTabSz="457200">
        <a:defRPr sz="1200">
          <a:solidFill>
            <a:schemeClr val="tx1"/>
          </a:solidFill>
          <a:uFill>
            <a:solidFill/>
          </a:uFill>
          <a:latin typeface="+mn-lt"/>
          <a:ea typeface="+mn-ea"/>
          <a:cs typeface="+mn-cs"/>
          <a:sym typeface="Calibri"/>
        </a:defRPr>
      </a:lvl4pPr>
      <a:lvl5pPr algn="r" defTabSz="457200">
        <a:defRPr sz="1200">
          <a:solidFill>
            <a:schemeClr val="tx1"/>
          </a:solidFill>
          <a:uFill>
            <a:solidFill/>
          </a:uFill>
          <a:latin typeface="+mn-lt"/>
          <a:ea typeface="+mn-ea"/>
          <a:cs typeface="+mn-cs"/>
          <a:sym typeface="Calibri"/>
        </a:defRPr>
      </a:lvl5pPr>
      <a:lvl6pPr algn="r" defTabSz="457200">
        <a:defRPr sz="1200">
          <a:solidFill>
            <a:schemeClr val="tx1"/>
          </a:solidFill>
          <a:uFill>
            <a:solidFill/>
          </a:uFill>
          <a:latin typeface="+mn-lt"/>
          <a:ea typeface="+mn-ea"/>
          <a:cs typeface="+mn-cs"/>
          <a:sym typeface="Calibri"/>
        </a:defRPr>
      </a:lvl6pPr>
      <a:lvl7pPr algn="r" defTabSz="457200">
        <a:defRPr sz="1200">
          <a:solidFill>
            <a:schemeClr val="tx1"/>
          </a:solidFill>
          <a:uFill>
            <a:solidFill/>
          </a:uFill>
          <a:latin typeface="+mn-lt"/>
          <a:ea typeface="+mn-ea"/>
          <a:cs typeface="+mn-cs"/>
          <a:sym typeface="Calibri"/>
        </a:defRPr>
      </a:lvl7pPr>
      <a:lvl8pPr algn="r" defTabSz="457200">
        <a:defRPr sz="1200">
          <a:solidFill>
            <a:schemeClr val="tx1"/>
          </a:solidFill>
          <a:uFill>
            <a:solidFill/>
          </a:uFill>
          <a:latin typeface="+mn-lt"/>
          <a:ea typeface="+mn-ea"/>
          <a:cs typeface="+mn-cs"/>
          <a:sym typeface="Calibri"/>
        </a:defRPr>
      </a:lvl8pPr>
      <a:lvl9pPr algn="r" defTabSz="457200">
        <a:defRPr sz="1200">
          <a:solidFill>
            <a:schemeClr val="tx1"/>
          </a:solidFill>
          <a:uFill>
            <a:solidFill/>
          </a:uFill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08850-6C5F-442D-A472-E2AFCC90B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 6600 Final Project: </a:t>
            </a:r>
            <a:br>
              <a:rPr lang="en-US" dirty="0"/>
            </a:br>
            <a:r>
              <a:rPr lang="en-US" dirty="0"/>
              <a:t>Time Delayed Neural Network for Improved Satellite Orbit Propagation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9E3DB5-B2F4-47B6-8B67-31F2BA473C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254845" y="3057525"/>
            <a:ext cx="7677150" cy="742950"/>
          </a:xfrm>
        </p:spPr>
        <p:txBody>
          <a:bodyPr/>
          <a:lstStyle/>
          <a:p>
            <a:r>
              <a:rPr lang="en-US" dirty="0"/>
              <a:t>Oren Miller &amp; Luke Zins</a:t>
            </a:r>
          </a:p>
        </p:txBody>
      </p:sp>
    </p:spTree>
    <p:extLst>
      <p:ext uri="{BB962C8B-B14F-4D97-AF65-F5344CB8AC3E}">
        <p14:creationId xmlns:p14="http://schemas.microsoft.com/office/powerpoint/2010/main" val="1124523235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E5643-55BD-62CD-8AC2-BE02373AD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Background/Motivation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495DC7-9988-C5B8-F3A9-9EE0CFA946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C3FE34-2808-40E6-BEA2-B7CA77D47CA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ABB2FE-1708-F4D9-6EB8-F42040706F9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5541" y="1341438"/>
            <a:ext cx="6722460" cy="5516562"/>
          </a:xfrm>
        </p:spPr>
        <p:txBody>
          <a:bodyPr>
            <a:normAutofit fontScale="92500"/>
          </a:bodyPr>
          <a:lstStyle/>
          <a:p>
            <a:r>
              <a:rPr lang="en-US" dirty="0"/>
              <a:t>Satellite navigation systems, such as the Global Positioning System (GPS), have become and integral to modern day society</a:t>
            </a:r>
          </a:p>
          <a:p>
            <a:r>
              <a:rPr lang="en-US" dirty="0"/>
              <a:t>These systems provide the user precise Position, Navigation, and Timing (PNT)</a:t>
            </a:r>
          </a:p>
          <a:p>
            <a:r>
              <a:rPr lang="en-US" dirty="0"/>
              <a:t>While GPS is effective, it has a low received signal power due to its satellites being in Medium Earth Orbit</a:t>
            </a:r>
          </a:p>
          <a:p>
            <a:r>
              <a:rPr lang="en-US" dirty="0"/>
              <a:t>With this reliance on GPS, researchers have been investigating methods to leverage growing quantity of satellites within Low Earth Orbit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205DDB-45D1-0594-D4A2-246A368578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1" y="1190638"/>
            <a:ext cx="5198458" cy="5371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608349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CF5CEB-8FAE-3BC2-96EA-A89F42BC9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EFECE14-EE9D-F5A7-E60A-FA8B414F4988}"/>
              </a:ext>
            </a:extLst>
          </p:cNvPr>
          <p:cNvSpPr/>
          <p:nvPr/>
        </p:nvSpPr>
        <p:spPr>
          <a:xfrm>
            <a:off x="10542202" y="5412565"/>
            <a:ext cx="1552575" cy="139065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Calibri"/>
              <a:buNone/>
              <a:tabLst/>
            </a:pPr>
            <a:endParaRPr kumimoji="0" lang="en-US" sz="40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+mn-lt"/>
              <a:ea typeface="+mn-ea"/>
              <a:cs typeface="+mn-cs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5DE060-C84D-9258-D75C-988B0E33A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LEO Satellite Qualities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5F4A40-9F4C-3842-3926-57AEE7E53E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C3FE34-2808-40E6-BEA2-B7CA77D47CA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9B7F31-1A12-7036-7EB4-0A8B9CD3173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5540" y="1341438"/>
            <a:ext cx="7439433" cy="546177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Typical Global Navigation Satellite Systems (GNSS) broadcast a signal with a modulated pseudorandom code that allows the user to “find” the signal below the noise floor</a:t>
            </a:r>
          </a:p>
          <a:p>
            <a:r>
              <a:rPr lang="en-US" dirty="0"/>
              <a:t>In contrast, many LEO satellites can be directly signal processed due to his high received signal power</a:t>
            </a:r>
          </a:p>
          <a:p>
            <a:r>
              <a:rPr lang="en-US" dirty="0"/>
              <a:t>This allows the signal to penetrate indoors and becomes easier for a receiver to maintain signal tracking</a:t>
            </a:r>
          </a:p>
          <a:p>
            <a:r>
              <a:rPr lang="en-US" dirty="0"/>
              <a:t>With the explosion of commercial satellite companies, there has become a diverse geometric diversity of LEO satellites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EC35C2-08EA-5E54-52E9-71A7557D3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5232" y="1390936"/>
            <a:ext cx="4461228" cy="5362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23512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08044-A2A4-CCB0-7A2E-E9D72122E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8D1FB-83E8-42D4-F6F5-31C0DCD72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LEO Drawbacks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E5AF9F-D62E-AC9F-251B-EA6E9C2FF6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C3FE34-2808-40E6-BEA2-B7CA77D47CA5}" type="slidenum">
              <a:rPr lang="en-US" smtClean="0"/>
              <a:pPr/>
              <a:t>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5C9C4DF-5A08-4777-288B-B98392CF8631}"/>
                  </a:ext>
                </a:extLst>
              </p:cNvPr>
              <p:cNvSpPr>
                <a:spLocks noGrp="1"/>
              </p:cNvSpPr>
              <p:nvPr>
                <p:ph type="body" sz="quarter" idx="11"/>
              </p:nvPr>
            </p:nvSpPr>
            <p:spPr>
              <a:xfrm>
                <a:off x="135540" y="1341438"/>
                <a:ext cx="6587378" cy="5461777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When positioning from satellites, one major assumption is that the satellite positions are known</a:t>
                </a:r>
              </a:p>
              <a:p>
                <a:r>
                  <a:rPr lang="en-US" dirty="0"/>
                  <a:t>For GNSS satellites this assumption holds:</a:t>
                </a:r>
              </a:p>
              <a:p>
                <a:pPr lvl="1"/>
                <a:r>
                  <a:rPr lang="en-US" dirty="0"/>
                  <a:t>GNSS satellites broadcast precise ephemeris 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≈2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hrs</a:t>
                </a:r>
                <a:endParaRPr lang="en-US" dirty="0"/>
              </a:p>
              <a:p>
                <a:pPr lvl="1"/>
                <a:r>
                  <a:rPr lang="en-US" dirty="0"/>
                  <a:t>The ephemeris provides a method to know a satellites position within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≈6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endParaRPr lang="en-US" dirty="0"/>
              </a:p>
              <a:p>
                <a:r>
                  <a:rPr lang="en-US" dirty="0"/>
                  <a:t>LEO satellite companies may publish ephemeris, but it not guaranteed to be the same quality as GNSS Ephemeris</a:t>
                </a:r>
              </a:p>
              <a:p>
                <a:r>
                  <a:rPr lang="en-US" dirty="0"/>
                  <a:t>Ground Stations Publish Two-Line Element (TLE) files that can propagate a satellites orbit, but these TLEs have large initialization errors and drift  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5C9C4DF-5A08-4777-288B-B98392CF86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1"/>
              </p:nvPr>
            </p:nvSpPr>
            <p:spPr>
              <a:xfrm>
                <a:off x="135540" y="1341438"/>
                <a:ext cx="6587378" cy="5461777"/>
              </a:xfrm>
              <a:blipFill>
                <a:blip r:embed="rId2"/>
                <a:stretch>
                  <a:fillRect l="-1388" t="-2455" r="-1110" b="-2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F0A41906-1E3B-9990-B500-A4200CDFF0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360" y="803745"/>
            <a:ext cx="3817844" cy="272401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8A2AEC7-C69F-EADA-2337-A1B3FD5507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618" y="3110500"/>
            <a:ext cx="4605327" cy="3082699"/>
          </a:xfrm>
          <a:prstGeom prst="rect">
            <a:avLst/>
          </a:prstGeom>
        </p:spPr>
      </p:pic>
      <p:sp>
        <p:nvSpPr>
          <p:cNvPr id="39" name="Text Placeholder 3">
            <a:extLst>
              <a:ext uri="{FF2B5EF4-FFF2-40B4-BE49-F238E27FC236}">
                <a16:creationId xmlns:a16="http://schemas.microsoft.com/office/drawing/2014/main" id="{269FD988-4DFD-9C0B-36E6-F8788F313D94}"/>
              </a:ext>
            </a:extLst>
          </p:cNvPr>
          <p:cNvSpPr txBox="1">
            <a:spLocks/>
          </p:cNvSpPr>
          <p:nvPr/>
        </p:nvSpPr>
        <p:spPr>
          <a:xfrm>
            <a:off x="8804465" y="3110500"/>
            <a:ext cx="1846675" cy="513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8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1pPr>
            <a:lvl2pPr marL="783771" indent="-326571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4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2pPr>
            <a:lvl3pPr marL="1219200" indent="-304800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0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3pPr>
            <a:lvl4pPr marL="1737360" indent="-365760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0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4pPr>
            <a:lvl5pPr marL="2194560" indent="-365760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0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5pPr>
            <a:lvl6pPr marL="2451100" indent="0" defTabSz="457200">
              <a:spcBef>
                <a:spcPts val="700"/>
              </a:spcBef>
              <a:buClr>
                <a:srgbClr val="000000"/>
              </a:buClr>
              <a:buSzPct val="171000"/>
              <a:buFont typeface="Arial"/>
              <a:buNone/>
              <a:defRPr sz="1800">
                <a:solidFill>
                  <a:srgbClr val="03244D"/>
                </a:solidFill>
                <a:uFill>
                  <a:solidFill/>
                </a:u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6pPr>
            <a:lvl7pPr marL="3721100" indent="-914400" defTabSz="457200">
              <a:spcBef>
                <a:spcPts val="700"/>
              </a:spcBef>
              <a:buClr>
                <a:srgbClr val="000000"/>
              </a:buClr>
              <a:buSzPct val="171000"/>
              <a:buFont typeface="Arial"/>
              <a:buChar char="•"/>
              <a:defRPr sz="3200">
                <a:uFill>
                  <a:solidFill/>
                </a:uFill>
                <a:latin typeface="+mn-lt"/>
                <a:ea typeface="+mn-ea"/>
                <a:cs typeface="+mn-cs"/>
                <a:sym typeface="Calibri"/>
              </a:defRPr>
            </a:lvl7pPr>
            <a:lvl8pPr marL="4076700" indent="-914400" defTabSz="457200">
              <a:spcBef>
                <a:spcPts val="700"/>
              </a:spcBef>
              <a:buClr>
                <a:srgbClr val="000000"/>
              </a:buClr>
              <a:buSzPct val="171000"/>
              <a:buFont typeface="Arial"/>
              <a:buChar char="•"/>
              <a:defRPr sz="3200">
                <a:uFill>
                  <a:solidFill/>
                </a:uFill>
                <a:latin typeface="+mn-lt"/>
                <a:ea typeface="+mn-ea"/>
                <a:cs typeface="+mn-cs"/>
                <a:sym typeface="Calibri"/>
              </a:defRPr>
            </a:lvl8pPr>
            <a:lvl9pPr marL="4432300" indent="-914400" defTabSz="457200">
              <a:spcBef>
                <a:spcPts val="700"/>
              </a:spcBef>
              <a:buClr>
                <a:srgbClr val="000000"/>
              </a:buClr>
              <a:buSzPct val="171000"/>
              <a:buFont typeface="Arial"/>
              <a:buChar char="•"/>
              <a:defRPr sz="3200">
                <a:uFill>
                  <a:solidFill/>
                </a:uFill>
                <a:latin typeface="+mn-lt"/>
                <a:ea typeface="+mn-ea"/>
                <a:cs typeface="+mn-cs"/>
                <a:sym typeface="Calibri"/>
              </a:defRPr>
            </a:lvl9pPr>
          </a:lstStyle>
          <a:p>
            <a:pPr marL="0" indent="0" algn="ctr">
              <a:buNone/>
            </a:pPr>
            <a:r>
              <a:rPr lang="en-US" sz="1500" dirty="0"/>
              <a:t>GNSS Propagation</a:t>
            </a:r>
          </a:p>
        </p:txBody>
      </p:sp>
      <p:sp>
        <p:nvSpPr>
          <p:cNvPr id="40" name="Text Placeholder 3">
            <a:extLst>
              <a:ext uri="{FF2B5EF4-FFF2-40B4-BE49-F238E27FC236}">
                <a16:creationId xmlns:a16="http://schemas.microsoft.com/office/drawing/2014/main" id="{CF1550C2-75BB-F423-97D2-4B78052892C1}"/>
              </a:ext>
            </a:extLst>
          </p:cNvPr>
          <p:cNvSpPr txBox="1">
            <a:spLocks/>
          </p:cNvSpPr>
          <p:nvPr/>
        </p:nvSpPr>
        <p:spPr>
          <a:xfrm>
            <a:off x="8511777" y="5855078"/>
            <a:ext cx="2432050" cy="513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8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1pPr>
            <a:lvl2pPr marL="783771" indent="-326571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4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2pPr>
            <a:lvl3pPr marL="1219200" indent="-304800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0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3pPr>
            <a:lvl4pPr marL="1737360" indent="-365760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0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4pPr>
            <a:lvl5pPr marL="2194560" indent="-365760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0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5pPr>
            <a:lvl6pPr marL="2451100" indent="0" defTabSz="457200">
              <a:spcBef>
                <a:spcPts val="700"/>
              </a:spcBef>
              <a:buClr>
                <a:srgbClr val="000000"/>
              </a:buClr>
              <a:buSzPct val="171000"/>
              <a:buFont typeface="Arial"/>
              <a:buNone/>
              <a:defRPr sz="1800">
                <a:solidFill>
                  <a:srgbClr val="03244D"/>
                </a:solidFill>
                <a:uFill>
                  <a:solidFill/>
                </a:u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6pPr>
            <a:lvl7pPr marL="3721100" indent="-914400" defTabSz="457200">
              <a:spcBef>
                <a:spcPts val="700"/>
              </a:spcBef>
              <a:buClr>
                <a:srgbClr val="000000"/>
              </a:buClr>
              <a:buSzPct val="171000"/>
              <a:buFont typeface="Arial"/>
              <a:buChar char="•"/>
              <a:defRPr sz="3200">
                <a:uFill>
                  <a:solidFill/>
                </a:uFill>
                <a:latin typeface="+mn-lt"/>
                <a:ea typeface="+mn-ea"/>
                <a:cs typeface="+mn-cs"/>
                <a:sym typeface="Calibri"/>
              </a:defRPr>
            </a:lvl7pPr>
            <a:lvl8pPr marL="4076700" indent="-914400" defTabSz="457200">
              <a:spcBef>
                <a:spcPts val="700"/>
              </a:spcBef>
              <a:buClr>
                <a:srgbClr val="000000"/>
              </a:buClr>
              <a:buSzPct val="171000"/>
              <a:buFont typeface="Arial"/>
              <a:buChar char="•"/>
              <a:defRPr sz="3200">
                <a:uFill>
                  <a:solidFill/>
                </a:uFill>
                <a:latin typeface="+mn-lt"/>
                <a:ea typeface="+mn-ea"/>
                <a:cs typeface="+mn-cs"/>
                <a:sym typeface="Calibri"/>
              </a:defRPr>
            </a:lvl8pPr>
            <a:lvl9pPr marL="4432300" indent="-914400" defTabSz="457200">
              <a:spcBef>
                <a:spcPts val="700"/>
              </a:spcBef>
              <a:buClr>
                <a:srgbClr val="000000"/>
              </a:buClr>
              <a:buSzPct val="171000"/>
              <a:buFont typeface="Arial"/>
              <a:buChar char="•"/>
              <a:defRPr sz="3200">
                <a:uFill>
                  <a:solidFill/>
                </a:uFill>
                <a:latin typeface="+mn-lt"/>
                <a:ea typeface="+mn-ea"/>
                <a:cs typeface="+mn-cs"/>
                <a:sym typeface="Calibri"/>
              </a:defRPr>
            </a:lvl9pPr>
          </a:lstStyle>
          <a:p>
            <a:pPr marL="0" indent="0" algn="ctr">
              <a:buNone/>
            </a:pPr>
            <a:r>
              <a:rPr lang="en-US" sz="1500" dirty="0"/>
              <a:t>LEO TLE Propagation</a:t>
            </a:r>
          </a:p>
        </p:txBody>
      </p:sp>
    </p:spTree>
    <p:extLst>
      <p:ext uri="{BB962C8B-B14F-4D97-AF65-F5344CB8AC3E}">
        <p14:creationId xmlns:p14="http://schemas.microsoft.com/office/powerpoint/2010/main" val="1750154794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BFEDD-A32E-E7F3-FF4F-B95ED7F98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9492C-4A59-A715-6B8D-C72D3E66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EAC505-88E0-23A2-0068-6F6F47B532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C3FE34-2808-40E6-BEA2-B7CA77D47CA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C20E30-ACBB-1363-4C9E-3280A7FD9D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5541" y="1341438"/>
            <a:ext cx="6337996" cy="56412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This project attempts to create a Time Dependent Neural Network (TDNN) to estimate a satellites position using both pseudo-published ephemeris and published TLEs [1], [</a:t>
            </a:r>
          </a:p>
          <a:p>
            <a:r>
              <a:rPr lang="en-US" dirty="0"/>
              <a:t>A Time-Delay Neural Network is designed to learn patterns over time using past inputs as explicit delays</a:t>
            </a:r>
          </a:p>
          <a:p>
            <a:r>
              <a:rPr lang="en-US" dirty="0"/>
              <a:t>This structure is well-suited to modeling orbital dynamics and propagation errors, which depend on historical motion.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D50A06CB-21B3-81E5-E434-4F84B0E2C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8574" y="2279264"/>
            <a:ext cx="6006553" cy="3237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16657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CE200-3B97-C1D1-91AD-74F3D5695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59FBF-A800-35AB-78DA-AFF0E18B8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 - TDNN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3A1467-55D1-FD99-1760-E7F711673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C3FE34-2808-40E6-BEA2-B7CA77D47CA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B4B3D8-4569-3B58-1E5C-0DBFA4ABDC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5540" y="1341438"/>
            <a:ext cx="12149978" cy="4911725"/>
          </a:xfrm>
        </p:spPr>
        <p:txBody>
          <a:bodyPr/>
          <a:lstStyle/>
          <a:p>
            <a:r>
              <a:rPr lang="en-US" dirty="0"/>
              <a:t>TDNN Components:</a:t>
            </a:r>
          </a:p>
          <a:p>
            <a:pPr lvl="1"/>
            <a:r>
              <a:rPr lang="en-US" dirty="0"/>
              <a:t>1D Convolution Layer * kernel </a:t>
            </a:r>
            <a:r>
              <a:rPr lang="en-US" b="1" dirty="0"/>
              <a:t>only</a:t>
            </a:r>
            <a:r>
              <a:rPr lang="en-US" dirty="0"/>
              <a:t> extends to previous timesteps *</a:t>
            </a:r>
          </a:p>
          <a:p>
            <a:pPr lvl="1"/>
            <a:r>
              <a:rPr lang="en-US" dirty="0"/>
              <a:t>Max Pooling Layer &amp; Flattening Layer</a:t>
            </a:r>
          </a:p>
          <a:p>
            <a:pPr lvl="1"/>
            <a:r>
              <a:rPr lang="en-US" dirty="0"/>
              <a:t>Multi-Layer Perceptron (MLP)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58A49F-299C-4B39-F958-9A11D095E5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886" y="3185102"/>
            <a:ext cx="7360227" cy="367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805258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F290D-F87E-1EE5-6427-C03B465B6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29E8A-20C0-D00D-F77F-F12505510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Data and TDNN Parameters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E3A153-4C40-26E9-49E2-BA134379D8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C3FE34-2808-40E6-BEA2-B7CA77D47CA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C64220-7222-02E3-1FDF-50A8664FCE5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5539" y="1341438"/>
            <a:ext cx="7137619" cy="4911725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Example Testing Data taken from LAGEOS-1 scientific satellite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30714D8-41FB-E440-D5D2-F7BABF8033FC}"/>
              </a:ext>
            </a:extLst>
          </p:cNvPr>
          <p:cNvGraphicFramePr>
            <a:graphicFrameLocks noGrp="1"/>
          </p:cNvGraphicFramePr>
          <p:nvPr/>
        </p:nvGraphicFramePr>
        <p:xfrm>
          <a:off x="7662041" y="2124542"/>
          <a:ext cx="3983421" cy="37745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385487">
                  <a:extLst>
                    <a:ext uri="{9D8B030D-6E8A-4147-A177-3AD203B41FA5}">
                      <a16:colId xmlns:a16="http://schemas.microsoft.com/office/drawing/2014/main" val="2029435156"/>
                    </a:ext>
                  </a:extLst>
                </a:gridCol>
                <a:gridCol w="1597934">
                  <a:extLst>
                    <a:ext uri="{9D8B030D-6E8A-4147-A177-3AD203B41FA5}">
                      <a16:colId xmlns:a16="http://schemas.microsoft.com/office/drawing/2014/main" val="2594455307"/>
                    </a:ext>
                  </a:extLst>
                </a:gridCol>
              </a:tblGrid>
              <a:tr h="515474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Parameter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Value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602097549"/>
                  </a:ext>
                </a:extLst>
              </a:tr>
              <a:tr h="515474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Window Size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180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22130261"/>
                  </a:ext>
                </a:extLst>
              </a:tr>
              <a:tr h="515474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Epochs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100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000138850"/>
                  </a:ext>
                </a:extLst>
              </a:tr>
              <a:tr h="515474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Batch Size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128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52971204"/>
                  </a:ext>
                </a:extLst>
              </a:tr>
              <a:tr h="515474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Learning Rate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0.0001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193120320"/>
                  </a:ext>
                </a:extLst>
              </a:tr>
              <a:tr h="515474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Optimizer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ADAMS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076955195"/>
                  </a:ext>
                </a:extLst>
              </a:tr>
              <a:tr h="681736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Activation 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/>
                        <a:t>ReLu</a:t>
                      </a:r>
                      <a:endParaRPr lang="en-US" sz="1800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077693"/>
                  </a:ext>
                </a:extLst>
              </a:tr>
            </a:tbl>
          </a:graphicData>
        </a:graphic>
      </p:graphicFrame>
      <p:pic>
        <p:nvPicPr>
          <p:cNvPr id="7" name="Picture 6" descr="A graph of a graph&#10;&#10;AI-generated content may be incorrect.">
            <a:extLst>
              <a:ext uri="{FF2B5EF4-FFF2-40B4-BE49-F238E27FC236}">
                <a16:creationId xmlns:a16="http://schemas.microsoft.com/office/drawing/2014/main" id="{3C5128D4-E015-6C63-E30A-A85B90A311E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150" y="2396751"/>
            <a:ext cx="5914395" cy="4347696"/>
          </a:xfrm>
          <a:prstGeom prst="rect">
            <a:avLst/>
          </a:prstGeom>
        </p:spPr>
      </p:pic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BEB6D77-8D7A-C995-729E-DFFA1B64B6CA}"/>
              </a:ext>
            </a:extLst>
          </p:cNvPr>
          <p:cNvSpPr txBox="1">
            <a:spLocks/>
          </p:cNvSpPr>
          <p:nvPr/>
        </p:nvSpPr>
        <p:spPr>
          <a:xfrm>
            <a:off x="6084941" y="1482111"/>
            <a:ext cx="7137619" cy="5017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8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1pPr>
            <a:lvl2pPr marL="783771" indent="-326571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4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2pPr>
            <a:lvl3pPr marL="1219200" indent="-304800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0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3pPr>
            <a:lvl4pPr marL="1737360" indent="-365760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0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4pPr>
            <a:lvl5pPr marL="2194560" indent="-365760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0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5pPr>
            <a:lvl6pPr marL="2451100" indent="0" defTabSz="457200">
              <a:spcBef>
                <a:spcPts val="700"/>
              </a:spcBef>
              <a:buClr>
                <a:srgbClr val="000000"/>
              </a:buClr>
              <a:buSzPct val="171000"/>
              <a:buFont typeface="Arial"/>
              <a:buNone/>
              <a:defRPr sz="1800">
                <a:solidFill>
                  <a:srgbClr val="03244D"/>
                </a:solidFill>
                <a:uFill>
                  <a:solidFill/>
                </a:u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6pPr>
            <a:lvl7pPr marL="3721100" indent="-914400" defTabSz="457200">
              <a:spcBef>
                <a:spcPts val="700"/>
              </a:spcBef>
              <a:buClr>
                <a:srgbClr val="000000"/>
              </a:buClr>
              <a:buSzPct val="171000"/>
              <a:buFont typeface="Arial"/>
              <a:buChar char="•"/>
              <a:defRPr sz="3200">
                <a:uFill>
                  <a:solidFill/>
                </a:uFill>
                <a:latin typeface="+mn-lt"/>
                <a:ea typeface="+mn-ea"/>
                <a:cs typeface="+mn-cs"/>
                <a:sym typeface="Calibri"/>
              </a:defRPr>
            </a:lvl7pPr>
            <a:lvl8pPr marL="4076700" indent="-914400" defTabSz="457200">
              <a:spcBef>
                <a:spcPts val="700"/>
              </a:spcBef>
              <a:buClr>
                <a:srgbClr val="000000"/>
              </a:buClr>
              <a:buSzPct val="171000"/>
              <a:buFont typeface="Arial"/>
              <a:buChar char="•"/>
              <a:defRPr sz="3200">
                <a:uFill>
                  <a:solidFill/>
                </a:uFill>
                <a:latin typeface="+mn-lt"/>
                <a:ea typeface="+mn-ea"/>
                <a:cs typeface="+mn-cs"/>
                <a:sym typeface="Calibri"/>
              </a:defRPr>
            </a:lvl8pPr>
            <a:lvl9pPr marL="4432300" indent="-914400" defTabSz="457200">
              <a:spcBef>
                <a:spcPts val="700"/>
              </a:spcBef>
              <a:buClr>
                <a:srgbClr val="000000"/>
              </a:buClr>
              <a:buSzPct val="171000"/>
              <a:buFont typeface="Arial"/>
              <a:buChar char="•"/>
              <a:defRPr sz="3200">
                <a:uFill>
                  <a:solidFill/>
                </a:uFill>
                <a:latin typeface="+mn-lt"/>
                <a:ea typeface="+mn-ea"/>
                <a:cs typeface="+mn-cs"/>
                <a:sym typeface="Calibri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n-US" dirty="0"/>
              <a:t>TDNN Parameters</a:t>
            </a:r>
          </a:p>
        </p:txBody>
      </p:sp>
      <p:pic>
        <p:nvPicPr>
          <p:cNvPr id="8" name="Picture 7" descr="A graph of a sphere with red and blue lines&#10;&#10;AI-generated content may be incorrect.">
            <a:extLst>
              <a:ext uri="{FF2B5EF4-FFF2-40B4-BE49-F238E27FC236}">
                <a16:creationId xmlns:a16="http://schemas.microsoft.com/office/drawing/2014/main" id="{8FD4AC00-0BC5-CE45-4A03-07709121D2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3" y="2396751"/>
            <a:ext cx="6105924" cy="4347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42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AAEEF-9701-7A83-39CD-8CDC55E87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32337-4FFC-AAE5-62AE-B507AE096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Data and TDNN Parameters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A9AF3E-FC4A-9D1F-7F73-00A6048086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C3FE34-2808-40E6-BEA2-B7CA77D47CA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20C184-C5DE-B925-630D-BBC296BE17E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5539" y="1341438"/>
            <a:ext cx="7137619" cy="4911725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Example Testing Data taken from LAGEOS-1 scientific satellite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AE8999-54E7-1AAB-C82E-AADBD621FAD9}"/>
              </a:ext>
            </a:extLst>
          </p:cNvPr>
          <p:cNvGraphicFramePr>
            <a:graphicFrameLocks noGrp="1"/>
          </p:cNvGraphicFramePr>
          <p:nvPr/>
        </p:nvGraphicFramePr>
        <p:xfrm>
          <a:off x="7662041" y="2124542"/>
          <a:ext cx="3983421" cy="37745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385487">
                  <a:extLst>
                    <a:ext uri="{9D8B030D-6E8A-4147-A177-3AD203B41FA5}">
                      <a16:colId xmlns:a16="http://schemas.microsoft.com/office/drawing/2014/main" val="2029435156"/>
                    </a:ext>
                  </a:extLst>
                </a:gridCol>
                <a:gridCol w="1597934">
                  <a:extLst>
                    <a:ext uri="{9D8B030D-6E8A-4147-A177-3AD203B41FA5}">
                      <a16:colId xmlns:a16="http://schemas.microsoft.com/office/drawing/2014/main" val="2594455307"/>
                    </a:ext>
                  </a:extLst>
                </a:gridCol>
              </a:tblGrid>
              <a:tr h="515474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Parameter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Value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602097549"/>
                  </a:ext>
                </a:extLst>
              </a:tr>
              <a:tr h="515474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Window Size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180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22130261"/>
                  </a:ext>
                </a:extLst>
              </a:tr>
              <a:tr h="515474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Epochs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100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000138850"/>
                  </a:ext>
                </a:extLst>
              </a:tr>
              <a:tr h="515474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Batch Size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128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52971204"/>
                  </a:ext>
                </a:extLst>
              </a:tr>
              <a:tr h="515474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Learning Rate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0.0001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193120320"/>
                  </a:ext>
                </a:extLst>
              </a:tr>
              <a:tr h="515474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Optimizer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ADAMS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076955195"/>
                  </a:ext>
                </a:extLst>
              </a:tr>
              <a:tr h="681736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Activation 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/>
                        <a:t>ReLu</a:t>
                      </a:r>
                      <a:endParaRPr lang="en-US" sz="1800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077693"/>
                  </a:ext>
                </a:extLst>
              </a:tr>
            </a:tbl>
          </a:graphicData>
        </a:graphic>
      </p:graphicFrame>
      <p:pic>
        <p:nvPicPr>
          <p:cNvPr id="7" name="Picture 6" descr="A graph of a graph&#10;&#10;AI-generated content may be incorrect.">
            <a:extLst>
              <a:ext uri="{FF2B5EF4-FFF2-40B4-BE49-F238E27FC236}">
                <a16:creationId xmlns:a16="http://schemas.microsoft.com/office/drawing/2014/main" id="{C6F1EB61-8203-4E1A-9781-906336FAC61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150" y="2396751"/>
            <a:ext cx="5914395" cy="4347696"/>
          </a:xfrm>
          <a:prstGeom prst="rect">
            <a:avLst/>
          </a:prstGeom>
        </p:spPr>
      </p:pic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462736C-A763-1EAF-9247-38D07598D989}"/>
              </a:ext>
            </a:extLst>
          </p:cNvPr>
          <p:cNvSpPr txBox="1">
            <a:spLocks/>
          </p:cNvSpPr>
          <p:nvPr/>
        </p:nvSpPr>
        <p:spPr>
          <a:xfrm>
            <a:off x="6084941" y="1482111"/>
            <a:ext cx="7137619" cy="5017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8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1pPr>
            <a:lvl2pPr marL="783771" indent="-326571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4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2pPr>
            <a:lvl3pPr marL="1219200" indent="-304800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0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3pPr>
            <a:lvl4pPr marL="1737360" indent="-365760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0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4pPr>
            <a:lvl5pPr marL="2194560" indent="-365760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0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5pPr>
            <a:lvl6pPr marL="2451100" indent="0" defTabSz="457200">
              <a:spcBef>
                <a:spcPts val="700"/>
              </a:spcBef>
              <a:buClr>
                <a:srgbClr val="000000"/>
              </a:buClr>
              <a:buSzPct val="171000"/>
              <a:buFont typeface="Arial"/>
              <a:buNone/>
              <a:defRPr sz="1800">
                <a:solidFill>
                  <a:srgbClr val="03244D"/>
                </a:solidFill>
                <a:uFill>
                  <a:solidFill/>
                </a:u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6pPr>
            <a:lvl7pPr marL="3721100" indent="-914400" defTabSz="457200">
              <a:spcBef>
                <a:spcPts val="700"/>
              </a:spcBef>
              <a:buClr>
                <a:srgbClr val="000000"/>
              </a:buClr>
              <a:buSzPct val="171000"/>
              <a:buFont typeface="Arial"/>
              <a:buChar char="•"/>
              <a:defRPr sz="3200">
                <a:uFill>
                  <a:solidFill/>
                </a:uFill>
                <a:latin typeface="+mn-lt"/>
                <a:ea typeface="+mn-ea"/>
                <a:cs typeface="+mn-cs"/>
                <a:sym typeface="Calibri"/>
              </a:defRPr>
            </a:lvl7pPr>
            <a:lvl8pPr marL="4076700" indent="-914400" defTabSz="457200">
              <a:spcBef>
                <a:spcPts val="700"/>
              </a:spcBef>
              <a:buClr>
                <a:srgbClr val="000000"/>
              </a:buClr>
              <a:buSzPct val="171000"/>
              <a:buFont typeface="Arial"/>
              <a:buChar char="•"/>
              <a:defRPr sz="3200">
                <a:uFill>
                  <a:solidFill/>
                </a:uFill>
                <a:latin typeface="+mn-lt"/>
                <a:ea typeface="+mn-ea"/>
                <a:cs typeface="+mn-cs"/>
                <a:sym typeface="Calibri"/>
              </a:defRPr>
            </a:lvl8pPr>
            <a:lvl9pPr marL="4432300" indent="-914400" defTabSz="457200">
              <a:spcBef>
                <a:spcPts val="700"/>
              </a:spcBef>
              <a:buClr>
                <a:srgbClr val="000000"/>
              </a:buClr>
              <a:buSzPct val="171000"/>
              <a:buFont typeface="Arial"/>
              <a:buChar char="•"/>
              <a:defRPr sz="3200">
                <a:uFill>
                  <a:solidFill/>
                </a:uFill>
                <a:latin typeface="+mn-lt"/>
                <a:ea typeface="+mn-ea"/>
                <a:cs typeface="+mn-cs"/>
                <a:sym typeface="Calibri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n-US" dirty="0"/>
              <a:t>TDNN Parameters</a:t>
            </a:r>
          </a:p>
        </p:txBody>
      </p:sp>
    </p:spTree>
    <p:extLst>
      <p:ext uri="{BB962C8B-B14F-4D97-AF65-F5344CB8AC3E}">
        <p14:creationId xmlns:p14="http://schemas.microsoft.com/office/powerpoint/2010/main" val="11346858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760F8-5DEB-E8BA-7337-17439833D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AE30E-9FDE-1568-0D39-70DE5F531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088EE7-CA55-1F9E-B344-056556A31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C3FE34-2808-40E6-BEA2-B7CA77D47CA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B80D4A-A687-AA74-2808-DA47796FCE6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5540" y="1341438"/>
            <a:ext cx="4574872" cy="540300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Arial"/>
              </a:rPr>
              <a:t>The predicted residual can closely follow the true residual proving the model can predict the error of the orbit propagation.</a:t>
            </a:r>
            <a:endParaRPr lang="en-US" dirty="0"/>
          </a:p>
          <a:p>
            <a:r>
              <a:rPr lang="en-US" dirty="0">
                <a:cs typeface="Arial"/>
              </a:rPr>
              <a:t>The TDNN-corrected error is consistently lower, reducing the </a:t>
            </a:r>
            <a:r>
              <a:rPr lang="en-US" dirty="0" err="1">
                <a:cs typeface="Arial"/>
              </a:rPr>
              <a:t>varience</a:t>
            </a:r>
            <a:r>
              <a:rPr lang="en-US" dirty="0">
                <a:cs typeface="Arial"/>
              </a:rPr>
              <a:t>, improving the orbit estimation. 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8" name="Picture 7" descr="A graph showing blue and orange lines&#10;&#10;AI-generated content may be incorrect.">
            <a:extLst>
              <a:ext uri="{FF2B5EF4-FFF2-40B4-BE49-F238E27FC236}">
                <a16:creationId xmlns:a16="http://schemas.microsoft.com/office/drawing/2014/main" id="{40F441BD-AC87-C82E-158C-41F0F348FD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1152" y="4133018"/>
            <a:ext cx="7375307" cy="2611429"/>
          </a:xfrm>
          <a:prstGeom prst="rect">
            <a:avLst/>
          </a:prstGeom>
        </p:spPr>
      </p:pic>
      <p:pic>
        <p:nvPicPr>
          <p:cNvPr id="6" name="Picture 5" descr="A graph with blue and orange lines&#10;&#10;AI-generated content may be incorrect.">
            <a:extLst>
              <a:ext uri="{FF2B5EF4-FFF2-40B4-BE49-F238E27FC236}">
                <a16:creationId xmlns:a16="http://schemas.microsoft.com/office/drawing/2014/main" id="{E118D0C7-12B9-4826-0F47-068C4F1F35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1152" y="1331975"/>
            <a:ext cx="7355337" cy="2710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3133510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71018-4EB8-B688-7CAA-667E8F2C2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aph of a distribution of 3d error&#10;&#10;AI-generated content may be incorrect.">
            <a:extLst>
              <a:ext uri="{FF2B5EF4-FFF2-40B4-BE49-F238E27FC236}">
                <a16:creationId xmlns:a16="http://schemas.microsoft.com/office/drawing/2014/main" id="{4E81D92F-0CF4-B49A-0892-3FF38417B6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5598" y="2589924"/>
            <a:ext cx="3992887" cy="249555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3C2E01A-1675-C424-2D5C-990DA2D074AC}"/>
              </a:ext>
            </a:extLst>
          </p:cNvPr>
          <p:cNvSpPr/>
          <p:nvPr/>
        </p:nvSpPr>
        <p:spPr>
          <a:xfrm>
            <a:off x="10542202" y="5412565"/>
            <a:ext cx="1552575" cy="139065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Calibri"/>
              <a:buNone/>
              <a:tabLst/>
            </a:pPr>
            <a:endParaRPr kumimoji="0" lang="en-US" sz="40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+mn-lt"/>
              <a:ea typeface="+mn-ea"/>
              <a:cs typeface="+mn-cs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F8029B-7816-7581-AEBE-83E48A415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D90F65-1F5B-70A4-CB54-6F4CE72072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C3FE34-2808-40E6-BEA2-B7CA77D47CA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87E479-C1CD-9813-DD3D-0312EBDD7C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5539" y="1341438"/>
            <a:ext cx="7544767" cy="5461777"/>
          </a:xfrm>
        </p:spPr>
        <p:txBody>
          <a:bodyPr/>
          <a:lstStyle/>
          <a:p>
            <a:r>
              <a:rPr lang="en-US" dirty="0"/>
              <a:t>The designed TDNN was able to provide a %45.40 improvement over the traditional SGP4 orbit propagation</a:t>
            </a:r>
          </a:p>
          <a:p>
            <a:r>
              <a:rPr lang="en-US" dirty="0"/>
              <a:t>The distribution of the model errors appears to be gaussian, with the TDNN decreasing mean and variance when compared to SGP4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4" name="Picture 13" descr="A graph with a blue line&#10;&#10;AI-generated content may be incorrect.">
            <a:extLst>
              <a:ext uri="{FF2B5EF4-FFF2-40B4-BE49-F238E27FC236}">
                <a16:creationId xmlns:a16="http://schemas.microsoft.com/office/drawing/2014/main" id="{80C08060-AF92-DA15-1CAD-9E70E740D7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475" y="5144246"/>
            <a:ext cx="5419135" cy="1600201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B02CC8E-BA81-8C83-CCA0-DF2A0EC5171A}"/>
              </a:ext>
            </a:extLst>
          </p:cNvPr>
          <p:cNvGraphicFramePr>
            <a:graphicFrameLocks noGrp="1"/>
          </p:cNvGraphicFramePr>
          <p:nvPr/>
        </p:nvGraphicFramePr>
        <p:xfrm>
          <a:off x="7725213" y="1341438"/>
          <a:ext cx="3193663" cy="128665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08506">
                  <a:extLst>
                    <a:ext uri="{9D8B030D-6E8A-4147-A177-3AD203B41FA5}">
                      <a16:colId xmlns:a16="http://schemas.microsoft.com/office/drawing/2014/main" val="2029435156"/>
                    </a:ext>
                  </a:extLst>
                </a:gridCol>
                <a:gridCol w="1885157">
                  <a:extLst>
                    <a:ext uri="{9D8B030D-6E8A-4147-A177-3AD203B41FA5}">
                      <a16:colId xmlns:a16="http://schemas.microsoft.com/office/drawing/2014/main" val="2594455307"/>
                    </a:ext>
                  </a:extLst>
                </a:gridCol>
              </a:tblGrid>
              <a:tr h="32166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RMSE (m)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602097549"/>
                  </a:ext>
                </a:extLst>
              </a:tr>
              <a:tr h="32166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SGP4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153.77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22130261"/>
                  </a:ext>
                </a:extLst>
              </a:tr>
              <a:tr h="32166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TDNN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83.952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000138850"/>
                  </a:ext>
                </a:extLst>
              </a:tr>
              <a:tr h="321663">
                <a:tc>
                  <a:txBody>
                    <a:bodyPr/>
                    <a:lstStyle/>
                    <a:p>
                      <a:pPr algn="ctr"/>
                      <a:r>
                        <a:rPr lang="en-US" sz="1100" i="1" dirty="0"/>
                        <a:t>Improvement</a:t>
                      </a:r>
                      <a:endParaRPr lang="en-US" sz="1400" i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%45.40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872423675"/>
                  </a:ext>
                </a:extLst>
              </a:tr>
            </a:tbl>
          </a:graphicData>
        </a:graphic>
      </p:graphicFrame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91D0784A-5CA7-FB00-6B7F-EAAA04C0AA00}"/>
              </a:ext>
            </a:extLst>
          </p:cNvPr>
          <p:cNvSpPr txBox="1">
            <a:spLocks/>
          </p:cNvSpPr>
          <p:nvPr/>
        </p:nvSpPr>
        <p:spPr>
          <a:xfrm>
            <a:off x="135539" y="4533900"/>
            <a:ext cx="6693886" cy="2210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8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1pPr>
            <a:lvl2pPr marL="783771" indent="-326571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4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2pPr>
            <a:lvl3pPr marL="1219200" indent="-304800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0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3pPr>
            <a:lvl4pPr marL="1737360" indent="-365760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0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4pPr>
            <a:lvl5pPr marL="2194560" indent="-365760" defTabSz="457200">
              <a:spcBef>
                <a:spcPts val="700"/>
              </a:spcBef>
              <a:buClr>
                <a:srgbClr val="000000"/>
              </a:buClr>
              <a:buSzPct val="100000"/>
              <a:buFont typeface="Arial"/>
              <a:buChar char="•"/>
              <a:defRPr sz="2000">
                <a:solidFill>
                  <a:srgbClr val="03244D"/>
                </a:solidFill>
                <a:uFill>
                  <a:solidFill/>
                </a:uFill>
                <a:latin typeface="+mn-lt"/>
                <a:ea typeface="+mn-ea"/>
                <a:cs typeface="Arial" panose="020B0604020202020204" pitchFamily="34" charset="0"/>
                <a:sym typeface="Calibri"/>
              </a:defRPr>
            </a:lvl5pPr>
            <a:lvl6pPr marL="2451100" indent="0" defTabSz="457200">
              <a:spcBef>
                <a:spcPts val="700"/>
              </a:spcBef>
              <a:buClr>
                <a:srgbClr val="000000"/>
              </a:buClr>
              <a:buSzPct val="171000"/>
              <a:buFont typeface="Arial"/>
              <a:buNone/>
              <a:defRPr sz="1800">
                <a:solidFill>
                  <a:srgbClr val="03244D"/>
                </a:solidFill>
                <a:uFill>
                  <a:solidFill/>
                </a:u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6pPr>
            <a:lvl7pPr marL="3721100" indent="-914400" defTabSz="457200">
              <a:spcBef>
                <a:spcPts val="700"/>
              </a:spcBef>
              <a:buClr>
                <a:srgbClr val="000000"/>
              </a:buClr>
              <a:buSzPct val="171000"/>
              <a:buFont typeface="Arial"/>
              <a:buChar char="•"/>
              <a:defRPr sz="3200">
                <a:uFill>
                  <a:solidFill/>
                </a:uFill>
                <a:latin typeface="+mn-lt"/>
                <a:ea typeface="+mn-ea"/>
                <a:cs typeface="+mn-cs"/>
                <a:sym typeface="Calibri"/>
              </a:defRPr>
            </a:lvl7pPr>
            <a:lvl8pPr marL="4076700" indent="-914400" defTabSz="457200">
              <a:spcBef>
                <a:spcPts val="700"/>
              </a:spcBef>
              <a:buClr>
                <a:srgbClr val="000000"/>
              </a:buClr>
              <a:buSzPct val="171000"/>
              <a:buFont typeface="Arial"/>
              <a:buChar char="•"/>
              <a:defRPr sz="3200">
                <a:uFill>
                  <a:solidFill/>
                </a:uFill>
                <a:latin typeface="+mn-lt"/>
                <a:ea typeface="+mn-ea"/>
                <a:cs typeface="+mn-cs"/>
                <a:sym typeface="Calibri"/>
              </a:defRPr>
            </a:lvl8pPr>
            <a:lvl9pPr marL="4432300" indent="-914400" defTabSz="457200">
              <a:spcBef>
                <a:spcPts val="700"/>
              </a:spcBef>
              <a:buClr>
                <a:srgbClr val="000000"/>
              </a:buClr>
              <a:buSzPct val="171000"/>
              <a:buFont typeface="Arial"/>
              <a:buChar char="•"/>
              <a:defRPr sz="3200">
                <a:uFill>
                  <a:solidFill/>
                </a:uFill>
                <a:latin typeface="+mn-lt"/>
                <a:ea typeface="+mn-ea"/>
                <a:cs typeface="+mn-cs"/>
                <a:sym typeface="Calibri"/>
              </a:defRPr>
            </a:lvl9pPr>
          </a:lstStyle>
          <a:p>
            <a:r>
              <a:rPr lang="en-US" dirty="0"/>
              <a:t>While the mean error is decreased, there appears to be a bias is the estimate. </a:t>
            </a:r>
          </a:p>
        </p:txBody>
      </p:sp>
    </p:spTree>
    <p:extLst>
      <p:ext uri="{BB962C8B-B14F-4D97-AF65-F5344CB8AC3E}">
        <p14:creationId xmlns:p14="http://schemas.microsoft.com/office/powerpoint/2010/main" val="3994093353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D66B7-4BD0-241C-EDF0-69F8245AE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0F404-1765-ED46-4559-91158F2D9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E05F10-3B2A-82D1-41E4-C67DA20A76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C3FE34-2808-40E6-BEA2-B7CA77D47CA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111337-9272-DFAB-6913-12AF9BE59D9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The TDNN showed viable performance to improve satellite propagation</a:t>
            </a:r>
          </a:p>
          <a:p>
            <a:r>
              <a:rPr lang="en-US" dirty="0"/>
              <a:t>Evaluating the TDNN within a positioning algorithm to fully quantify the improvements of the model</a:t>
            </a:r>
          </a:p>
          <a:p>
            <a:r>
              <a:rPr lang="en-US" dirty="0"/>
              <a:t>Expanding this model to estimate satellite positions for commercial satellites, rather than a scientific satellite.</a:t>
            </a:r>
          </a:p>
          <a:p>
            <a:r>
              <a:rPr lang="en-US" dirty="0"/>
              <a:t> An exploratory study on changing number and size of Conv1D and dense layers would prove benefit to evaluating the TDNN</a:t>
            </a:r>
          </a:p>
        </p:txBody>
      </p:sp>
    </p:spTree>
    <p:extLst>
      <p:ext uri="{BB962C8B-B14F-4D97-AF65-F5344CB8AC3E}">
        <p14:creationId xmlns:p14="http://schemas.microsoft.com/office/powerpoint/2010/main" val="2792655864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EE6ED-DB89-ABEE-3DE2-544FC0732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35C50-FF45-578F-4A4F-F12C2E2D6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619E7D-4186-3F4C-61D6-03D4ABB01B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C3FE34-2808-40E6-BEA2-B7CA77D47CA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4643EC-9C33-BC06-6698-783CA1B701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[1] Sharbel </a:t>
            </a:r>
            <a:r>
              <a:rPr lang="en-US" dirty="0" err="1"/>
              <a:t>Kozhaya</a:t>
            </a:r>
            <a:r>
              <a:rPr lang="en-US" dirty="0"/>
              <a:t>, Jamil Haidar-Ahmad, Ali Abdallah, </a:t>
            </a:r>
            <a:r>
              <a:rPr lang="en-US" dirty="0" err="1"/>
              <a:t>ZaherKassas</a:t>
            </a:r>
            <a:r>
              <a:rPr lang="en-US" dirty="0"/>
              <a:t>, and Samer Saab. Comparison of neural network </a:t>
            </a:r>
            <a:r>
              <a:rPr lang="en-US" dirty="0" err="1"/>
              <a:t>archi-tectures</a:t>
            </a:r>
            <a:r>
              <a:rPr lang="en-US" dirty="0"/>
              <a:t> for simultaneous tracking and navigation with </a:t>
            </a:r>
            <a:r>
              <a:rPr lang="en-US" dirty="0" err="1"/>
              <a:t>LEOsatellites</a:t>
            </a:r>
            <a:r>
              <a:rPr lang="en-US" dirty="0"/>
              <a:t>. In Proceedings of the ION GNSS+ </a:t>
            </a:r>
            <a:r>
              <a:rPr lang="en-US" dirty="0" err="1"/>
              <a:t>Conference,pages</a:t>
            </a:r>
            <a:r>
              <a:rPr lang="en-US" dirty="0"/>
              <a:t> 1–10, St. Louis, MO, 2021</a:t>
            </a:r>
          </a:p>
          <a:p>
            <a:r>
              <a:rPr lang="en-US" dirty="0"/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941086294"/>
      </p:ext>
    </p:extLst>
  </p:cSld>
  <p:clrMapOvr>
    <a:masterClrMapping/>
  </p:clrMapOvr>
  <p:transition spd="med"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Gavlab">
  <a:themeElements>
    <a:clrScheme name="AU Colors">
      <a:dk1>
        <a:srgbClr val="03244D"/>
      </a:dk1>
      <a:lt1>
        <a:srgbClr val="FFFFFF"/>
      </a:lt1>
      <a:dk2>
        <a:srgbClr val="53585F"/>
      </a:dk2>
      <a:lt2>
        <a:srgbClr val="DCDEE0"/>
      </a:lt2>
      <a:accent1>
        <a:srgbClr val="03244D"/>
      </a:accent1>
      <a:accent2>
        <a:srgbClr val="DD550C"/>
      </a:accent2>
      <a:accent3>
        <a:srgbClr val="496E9C"/>
      </a:accent3>
      <a:accent4>
        <a:srgbClr val="F68026"/>
      </a:accent4>
      <a:accent5>
        <a:srgbClr val="000000"/>
      </a:accent5>
      <a:accent6>
        <a:srgbClr val="7F7F7F"/>
      </a:accent6>
      <a:hlink>
        <a:srgbClr val="0000FF"/>
      </a:hlink>
      <a:folHlink>
        <a:srgbClr val="FF00FF"/>
      </a:folHlink>
    </a:clrScheme>
    <a:fontScheme name="Gavlab Fonts">
      <a:majorFont>
        <a:latin typeface="Arial"/>
        <a:ea typeface="Calibri"/>
        <a:cs typeface="Calibri"/>
      </a:majorFont>
      <a:minorFont>
        <a:latin typeface="Arial"/>
        <a:ea typeface="Calibri"/>
        <a:cs typeface="Calibri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>
            <a:srgbClr val="000000"/>
          </a:buClr>
          <a:buSzTx/>
          <a:buFont typeface="Calibri"/>
          <a:buNone/>
          <a:tabLst/>
          <a:defRPr kumimoji="0" sz="4000" b="0" i="0" u="none" strike="noStrike" cap="none" spc="0" normalizeH="0" baseline="0">
            <a:ln>
              <a:noFill/>
            </a:ln>
            <a:solidFill>
              <a:srgbClr val="FFFFFF"/>
            </a:solidFill>
            <a:effectLst>
              <a:outerShdw blurRad="38100" dist="12700" dir="5400000" rotWithShape="0">
                <a:srgbClr val="000000">
                  <a:alpha val="50000"/>
                </a:srgbClr>
              </a:outerShdw>
            </a:effectLst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rgbClr val="000000"/>
          </a:solidFill>
          <a:prstDash val="solid"/>
          <a:miter lim="400000"/>
        </a:ln>
        <a:effectLst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4572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>
            <a:srgbClr val="000000"/>
          </a:buClr>
          <a:buSzTx/>
          <a:buFont typeface="Calibri"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>
              <a:solidFill>
                <a:srgbClr val="000000"/>
              </a:solidFill>
            </a:uFill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Calibri"/>
        <a:ea typeface="Calibri"/>
        <a:cs typeface="Calibri"/>
      </a:majorFont>
      <a:minorFont>
        <a:latin typeface="Calibri"/>
        <a:ea typeface="Calibri"/>
        <a:cs typeface="Calibri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>
            <a:srgbClr val="000000"/>
          </a:buClr>
          <a:buSzTx/>
          <a:buFont typeface="Calibri"/>
          <a:buNone/>
          <a:tabLst/>
          <a:defRPr kumimoji="0" sz="4000" b="0" i="0" u="none" strike="noStrike" cap="none" spc="0" normalizeH="0" baseline="0">
            <a:ln>
              <a:noFill/>
            </a:ln>
            <a:solidFill>
              <a:srgbClr val="FFFFFF"/>
            </a:solidFill>
            <a:effectLst>
              <a:outerShdw blurRad="38100" dist="12700" dir="5400000" rotWithShape="0">
                <a:srgbClr val="000000">
                  <a:alpha val="50000"/>
                </a:srgbClr>
              </a:outerShdw>
            </a:effectLst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rgbClr val="000000"/>
          </a:solidFill>
          <a:prstDash val="solid"/>
          <a:miter lim="400000"/>
        </a:ln>
        <a:effectLst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4572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>
            <a:srgbClr val="000000"/>
          </a:buClr>
          <a:buSzTx/>
          <a:buFont typeface="Calibri"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>
              <a:solidFill>
                <a:srgbClr val="000000"/>
              </a:solidFill>
            </a:uFill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9730</TotalTime>
  <Words>678</Words>
  <Application>Microsoft Office PowerPoint</Application>
  <PresentationFormat>Widescreen</PresentationFormat>
  <Paragraphs>98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Cambria Math</vt:lpstr>
      <vt:lpstr>Lucida Grande</vt:lpstr>
      <vt:lpstr>Gavlab</vt:lpstr>
      <vt:lpstr>COMP 6600 Final Project:  Time Delayed Neural Network for Improved Satellite Orbit Propagation</vt:lpstr>
      <vt:lpstr>Background/Motivation</vt:lpstr>
      <vt:lpstr>LEO Satellite Qualities </vt:lpstr>
      <vt:lpstr>LEO Drawbacks</vt:lpstr>
      <vt:lpstr>Methodology </vt:lpstr>
      <vt:lpstr>Methodology - TDNN </vt:lpstr>
      <vt:lpstr>Training Data and TDNN Parameters </vt:lpstr>
      <vt:lpstr>Training Data and TDNN Parameters </vt:lpstr>
      <vt:lpstr>Results</vt:lpstr>
      <vt:lpstr>Conclusion </vt:lpstr>
      <vt:lpstr>Future Work 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Kelly Bates</dc:creator>
  <cp:lastModifiedBy>Oren Miller</cp:lastModifiedBy>
  <cp:revision>361</cp:revision>
  <cp:lastPrinted>2020-09-23T15:49:10Z</cp:lastPrinted>
  <dcterms:modified xsi:type="dcterms:W3CDTF">2025-11-21T17:27:49Z</dcterms:modified>
</cp:coreProperties>
</file>